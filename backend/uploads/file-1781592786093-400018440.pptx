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5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876300" y="33274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173527"/>
                </a:solidFill>
                <a:latin typeface="&quot;Aoboshi One&quot;"/>
              </a:rPr>
              <a:t>Complaint Management System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876300" y="43688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Transforming Customer Support Through Agile Excellence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76300" y="5029200"/>
            <a:ext cx="144907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Poppins"/>
              </a:rPr>
              <a:t>by Garima Pandey, Nikita Saini, Nisha, Swayam Arora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5499100"/>
            <a:ext cx="14490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000000"/>
                </a:solidFill>
                <a:latin typeface="Poppins"/>
              </a:rPr>
              <a:t>Software Project Management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826000"/>
            <a:ext cx="14490700" cy="262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242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The Problem Statement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2984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Current Support Challenges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5080000"/>
            <a:ext cx="5537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Customer Pain Points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496300" y="5080000"/>
            <a:ext cx="570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Business Impact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6068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Customer satisfaction at 65% vs industry average of 85%, with 5.2 day resolution times and insufficient agent productivity.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384300" y="5664200"/>
            <a:ext cx="5283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No visibility into complaint status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6248400"/>
            <a:ext cx="5283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Long resolution times (5-7 days average)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6832600"/>
            <a:ext cx="5283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Multiple follow-ups required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50300" y="5664200"/>
            <a:ext cx="5448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Customer Satisfaction: 65% (Target: 85%)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50300" y="6248400"/>
            <a:ext cx="5448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Resolution Time: 5.2 days (Target: &lt;2 days)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50300" y="6832600"/>
            <a:ext cx="5448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Agent Productivity: 12 complaints/day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03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03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003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369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369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8369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222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222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318000"/>
            <a:ext cx="14490700" cy="3644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318000"/>
            <a:ext cx="7112000" cy="3644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4051300" y="457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AutoShape 9" id="9"/>
          <p:cNvSpPr/>
          <p:nvPr/>
        </p:nvSpPr>
        <p:spPr>
          <a:xfrm>
            <a:off x="8242300" y="4318000"/>
            <a:ext cx="7112000" cy="3644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11430000" y="457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1168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Our Solution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30300" y="2476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Complaint Management System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981200" y="5575300"/>
            <a:ext cx="4902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What We Built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9525000" y="5575300"/>
            <a:ext cx="455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Expected Outcomes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31115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An intelligent platform delivering automated complaint submission, smart assignment, real-time tracking, and data-driven analytics.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2235200" y="6172200"/>
            <a:ext cx="464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Automated submission and tracking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2235200" y="6756400"/>
            <a:ext cx="464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Smart agent assignment system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2235200" y="7327900"/>
            <a:ext cx="464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Real-time notifications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9779000" y="61722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50% faster resolution time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9779000" y="67564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30% increase in productivity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9779000" y="73279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Customer satisfaction &gt;4/5 rating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8542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8542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8542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93980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93980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93980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4279900" y="4826000"/>
            <a:ext cx="304800" cy="241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11684000" y="48260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895600"/>
            <a:ext cx="14490700" cy="4406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6731000" y="3898900"/>
            <a:ext cx="1257300" cy="1257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6" id="6"/>
          <p:cNvSpPr/>
          <p:nvPr/>
        </p:nvSpPr>
        <p:spPr>
          <a:xfrm>
            <a:off x="8242300" y="3898900"/>
            <a:ext cx="1257300" cy="1257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7" id="7"/>
          <p:cNvSpPr/>
          <p:nvPr/>
        </p:nvSpPr>
        <p:spPr>
          <a:xfrm>
            <a:off x="8242300" y="5410200"/>
            <a:ext cx="1257300" cy="1257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8" id="8"/>
          <p:cNvSpPr/>
          <p:nvPr/>
        </p:nvSpPr>
        <p:spPr>
          <a:xfrm>
            <a:off x="6731000" y="5410200"/>
            <a:ext cx="1257300" cy="1257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828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Why We Chose Agile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3644900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Flexibility &amp; Adaptation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9753600" y="2895600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Continuous Feedback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753600" y="5537200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Risk Mitigation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76300" y="5537200"/>
            <a:ext cx="560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Evolving Requirements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4279900"/>
            <a:ext cx="560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Perfect for ability to adapt to changing requirements and stakeholder feedback.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9753600" y="3517900"/>
            <a:ext cx="560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Regular sprint demos enable early detection of technical challenges and continuous improvement throughout project.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9753600" y="6172200"/>
            <a:ext cx="5600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Early identification and resolution of issues through iterative development reduces project risk significantly.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6300" y="6172200"/>
            <a:ext cx="5600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Fixed scope model replaced with flexible approach supporting scope evolution based on stakeholder input.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7251700" y="4406900"/>
            <a:ext cx="2159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8750300" y="4406900"/>
            <a:ext cx="241300" cy="241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rcRect l="0" r="0"/>
          <a:stretch>
            <a:fillRect/>
          </a:stretch>
        </p:blipFill>
        <p:spPr>
          <a:xfrm>
            <a:off x="8750300" y="5918200"/>
            <a:ext cx="241300" cy="241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>
            <a:off x="7239000" y="59182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625600"/>
            <a:ext cx="14490700" cy="6870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1155700" y="1625600"/>
            <a:ext cx="12700" cy="6870700"/>
          </a:xfrm>
          <a:prstGeom prst="roundRect">
            <a:avLst>
              <a:gd name="adj" fmla="val 50000"/>
            </a:avLst>
          </a:prstGeom>
          <a:solidFill>
            <a:srgbClr val="336C3D"/>
          </a:solidFill>
        </p:spPr>
      </p:sp>
      <p:sp>
        <p:nvSpPr>
          <p:cNvPr name="AutoShape 6" id="6"/>
          <p:cNvSpPr/>
          <p:nvPr/>
        </p:nvSpPr>
        <p:spPr>
          <a:xfrm>
            <a:off x="876300" y="1625600"/>
            <a:ext cx="144907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1625600"/>
            <a:ext cx="558800" cy="5207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8" id="8"/>
          <p:cNvSpPr/>
          <p:nvPr/>
        </p:nvSpPr>
        <p:spPr>
          <a:xfrm>
            <a:off x="1422400" y="1866900"/>
            <a:ext cx="7493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9" id="9"/>
          <p:cNvSpPr/>
          <p:nvPr/>
        </p:nvSpPr>
        <p:spPr>
          <a:xfrm>
            <a:off x="876300" y="3454400"/>
            <a:ext cx="144907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76300" y="3454400"/>
            <a:ext cx="558800" cy="5207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11" id="11"/>
          <p:cNvSpPr/>
          <p:nvPr/>
        </p:nvSpPr>
        <p:spPr>
          <a:xfrm>
            <a:off x="1422400" y="3708400"/>
            <a:ext cx="7493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12" id="12"/>
          <p:cNvSpPr/>
          <p:nvPr/>
        </p:nvSpPr>
        <p:spPr>
          <a:xfrm>
            <a:off x="876300" y="5295900"/>
            <a:ext cx="144907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876300" y="5295900"/>
            <a:ext cx="558800" cy="5207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14" id="14"/>
          <p:cNvSpPr/>
          <p:nvPr/>
        </p:nvSpPr>
        <p:spPr>
          <a:xfrm>
            <a:off x="1422400" y="5537200"/>
            <a:ext cx="7493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15" id="15"/>
          <p:cNvSpPr/>
          <p:nvPr/>
        </p:nvSpPr>
        <p:spPr>
          <a:xfrm>
            <a:off x="876300" y="7124700"/>
            <a:ext cx="144907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6" id="16"/>
          <p:cNvSpPr/>
          <p:nvPr/>
        </p:nvSpPr>
        <p:spPr>
          <a:xfrm>
            <a:off x="876300" y="7124700"/>
            <a:ext cx="558800" cy="5207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17" id="17"/>
          <p:cNvSpPr/>
          <p:nvPr/>
        </p:nvSpPr>
        <p:spPr>
          <a:xfrm>
            <a:off x="1422400" y="7378700"/>
            <a:ext cx="7493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TextBox 18" id="18"/>
          <p:cNvSpPr txBox="true"/>
          <p:nvPr/>
        </p:nvSpPr>
        <p:spPr>
          <a:xfrm>
            <a:off x="876300" y="6350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275C43"/>
                </a:solidFill>
                <a:latin typeface="&quot;Aoboshi One&quot;"/>
              </a:rPr>
              <a:t>Agile Methodology Overview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2413000" y="17018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700" b="true">
                <a:solidFill>
                  <a:srgbClr val="275C43"/>
                </a:solidFill>
                <a:latin typeface="&quot;Aoboshi One&quot;"/>
              </a:rPr>
              <a:t>Requirements &amp; Design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2413000" y="35306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700" b="true">
                <a:solidFill>
                  <a:srgbClr val="275C43"/>
                </a:solidFill>
                <a:latin typeface="&quot;Aoboshi One&quot;"/>
              </a:rPr>
              <a:t>Development Sprints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2413000" y="53721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700" b="true">
                <a:solidFill>
                  <a:srgbClr val="275C43"/>
                </a:solidFill>
                <a:latin typeface="&quot;Aoboshi One&quot;"/>
              </a:rPr>
              <a:t>Testing &amp; Quality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2413000" y="7200900"/>
            <a:ext cx="129413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700" b="true">
                <a:solidFill>
                  <a:srgbClr val="275C43"/>
                </a:solidFill>
                <a:latin typeface="&quot;Aoboshi One&quot;"/>
              </a:rPr>
              <a:t>Deployment &amp; Feedback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2413000" y="22860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Requirement gathering and system design completed with stakeholder interviews, user stories, and architectural planning.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2413000" y="41148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Six iterative sprints spanning foundation setup, core features, workflow management, and advanced functionality development.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2413000" y="59563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Comprehensive testing at unit, integration, system, and performance levels ensuring 85% code coverage achieved.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2413000" y="7797800"/>
            <a:ext cx="12941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Phased deployment approach with continuous feedback mechanisms and retrospectives for process improvement.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rcRect t="3000" b="3000"/>
          <a:stretch>
            <a:fillRect/>
          </a:stretch>
        </p:blipFill>
        <p:spPr>
          <a:xfrm>
            <a:off x="1028700" y="1765300"/>
            <a:ext cx="241300" cy="228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rcRect t="13000" b="13000"/>
          <a:stretch>
            <a:fillRect/>
          </a:stretch>
        </p:blipFill>
        <p:spPr>
          <a:xfrm>
            <a:off x="1003300" y="3606800"/>
            <a:ext cx="304800" cy="228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1028700" y="5435600"/>
            <a:ext cx="241300" cy="228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6"/>
          <a:srcRect t="3000" b="3000"/>
          <a:stretch>
            <a:fillRect/>
          </a:stretch>
        </p:blipFill>
        <p:spPr>
          <a:xfrm>
            <a:off x="1028700" y="7277100"/>
            <a:ext cx="241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826000"/>
            <a:ext cx="14490700" cy="262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242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Requirement Gathering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2984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Our Approach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5080000"/>
            <a:ext cx="5880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Documents Created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496300" y="5080000"/>
            <a:ext cx="4597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User Personas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6068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stakeholder analysis through interviews, detailed user stories, clear scope definition, and requirements documentation.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384300" y="5664200"/>
            <a:ext cx="563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Software Requirements Specification (SRS)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6248400"/>
            <a:ext cx="563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User Story Mapping with acceptance criteria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6832600"/>
            <a:ext cx="563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Project scope statement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50300" y="5664200"/>
            <a:ext cx="4343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Customers: Problem reporters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50300" y="6248400"/>
            <a:ext cx="4343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Support Agents: Problem solvers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50300" y="6832600"/>
            <a:ext cx="4343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Administrators: System managers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03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03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003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369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369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8369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2479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2479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343400"/>
            <a:ext cx="14490700" cy="3594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343400"/>
            <a:ext cx="4660900" cy="35941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2832100" y="4584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AutoShape 9" id="9"/>
          <p:cNvSpPr/>
          <p:nvPr/>
        </p:nvSpPr>
        <p:spPr>
          <a:xfrm>
            <a:off x="5791200" y="4343400"/>
            <a:ext cx="4660900" cy="35941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7747000" y="4584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AutoShape 11" id="11"/>
          <p:cNvSpPr/>
          <p:nvPr/>
        </p:nvSpPr>
        <p:spPr>
          <a:xfrm>
            <a:off x="10706100" y="4343400"/>
            <a:ext cx="4660900" cy="35941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12661900" y="45847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1193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System Design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5019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3-Tier Architecture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56007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Database Schema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45200" y="56007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REST API Design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960100" y="56007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Security Design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31242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Presentation Layer (Web UI) → Application Layer (Spring Boot) → Data Layer (MySQL) enabling scalable design.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61722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Normalized design with proper relationships between users, complaints, comments, and attachments tables.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045200" y="61722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15+ endpoints with proper HTTP methods, comprehensive API documentation via Swagger/OpenAPI.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960100" y="61722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Role-based access control with authentication and authorization mechanisms protecting system integrity.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3098800" y="4838700"/>
            <a:ext cx="215900" cy="241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7962900" y="4838700"/>
            <a:ext cx="304800" cy="24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l="6000" r="6000"/>
          <a:stretch>
            <a:fillRect/>
          </a:stretch>
        </p:blipFill>
        <p:spPr>
          <a:xfrm>
            <a:off x="12928600" y="48387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714500"/>
            <a:ext cx="14490700" cy="1130300"/>
          </a:xfrm>
          <a:prstGeom prst="roundRect">
            <a:avLst>
              <a:gd name="adj" fmla="val 674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714500"/>
            <a:ext cx="3378200" cy="1130300"/>
          </a:xfrm>
          <a:prstGeom prst="roundRect">
            <a:avLst>
              <a:gd name="adj" fmla="val 674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4572000" y="1714500"/>
            <a:ext cx="3378200" cy="1130300"/>
          </a:xfrm>
          <a:prstGeom prst="roundRect">
            <a:avLst>
              <a:gd name="adj" fmla="val 674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280400" y="1714500"/>
            <a:ext cx="3378200" cy="1130300"/>
          </a:xfrm>
          <a:prstGeom prst="roundRect">
            <a:avLst>
              <a:gd name="adj" fmla="val 674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11976100" y="1714500"/>
            <a:ext cx="3378200" cy="1130300"/>
          </a:xfrm>
          <a:prstGeom prst="roundRect">
            <a:avLst>
              <a:gd name="adj" fmla="val 674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876300" y="3048000"/>
            <a:ext cx="14490700" cy="5397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76300" y="3048000"/>
            <a:ext cx="4660900" cy="53975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1130300" y="3911600"/>
            <a:ext cx="12700" cy="18542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AutoShape 12" id="12"/>
          <p:cNvSpPr/>
          <p:nvPr/>
        </p:nvSpPr>
        <p:spPr>
          <a:xfrm>
            <a:off x="5791200" y="3048000"/>
            <a:ext cx="4660900" cy="53975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6045200" y="3911600"/>
            <a:ext cx="12700" cy="18542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AutoShape 14" id="14"/>
          <p:cNvSpPr/>
          <p:nvPr/>
        </p:nvSpPr>
        <p:spPr>
          <a:xfrm>
            <a:off x="10706100" y="3048000"/>
            <a:ext cx="4660900" cy="53975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10960100" y="3911600"/>
            <a:ext cx="12700" cy="18542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TextBox 16" id="16"/>
          <p:cNvSpPr txBox="true"/>
          <p:nvPr/>
        </p:nvSpPr>
        <p:spPr>
          <a:xfrm>
            <a:off x="876300" y="6731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275C43"/>
                </a:solidFill>
                <a:latin typeface="&quot;Aoboshi One&quot;"/>
              </a:rPr>
              <a:t>Development &amp; Coding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6300" y="24765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Test Coverage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572000" y="24765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Code Duplication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280400" y="24765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API Endpoints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976100" y="24765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Backend Language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32893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Technology Stack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045200" y="32893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Development Practices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0960100" y="32893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Code Quality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76300" y="1739900"/>
            <a:ext cx="3556000" cy="711200"/>
          </a:xfrm>
          <a:prstGeom prst="roundRect">
            <a:avLst>
              <a:gd name="adj" fmla="val 1250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85%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4572000" y="1739900"/>
            <a:ext cx="3556000" cy="711200"/>
          </a:xfrm>
          <a:prstGeom prst="roundRect">
            <a:avLst>
              <a:gd name="adj" fmla="val 1250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&lt;2%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280400" y="1739900"/>
            <a:ext cx="3556000" cy="711200"/>
          </a:xfrm>
          <a:prstGeom prst="roundRect">
            <a:avLst>
              <a:gd name="adj" fmla="val 1250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15+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1976100" y="1739900"/>
            <a:ext cx="3556000" cy="711200"/>
          </a:xfrm>
          <a:prstGeom prst="roundRect">
            <a:avLst>
              <a:gd name="adj" fmla="val 1250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Java 17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384300" y="3911600"/>
            <a:ext cx="38989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Spring Boot 3.2.0 with Java 17, MySQL 8.0, RESTful APIs, Maven build system, and comprehensive testing frameworks.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384300" y="5956300"/>
            <a:ext cx="38989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Backend: Spring Boot &amp; Java 17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384300" y="6896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Database: MySQL 8.0 with JPA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1384300" y="7467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Testing: JUnit and Mockito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6299200" y="3911600"/>
            <a:ext cx="38989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Test-driven development, pair programming for complex features, continuous integration, and rigorous code reviews.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99200" y="5956300"/>
            <a:ext cx="38989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Test-Driven Development approach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6299200" y="6896100"/>
            <a:ext cx="38989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Collaborative pair programming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299200" y="78359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Regular code reviews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1214100" y="3911600"/>
            <a:ext cx="38989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documentation and minimal code smells achieved through peer reviews and testing protocols.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1214100" y="5956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85% test coverage achieved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11214100" y="6527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Minimal code smells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11214100" y="7099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JavaDocs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1003300" y="6019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003300" y="6959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1003300" y="753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5918200" y="6019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5918200" y="6959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5918200" y="7899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0833100" y="6019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10833100" y="6591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10833100" y="7150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826000"/>
            <a:ext cx="14490700" cy="262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242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Testing Strategy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2984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Testing Pyramid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5080000"/>
            <a:ext cx="4000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Test Coverage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496300" y="5080000"/>
            <a:ext cx="335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Bug Statistics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6068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testing approach with 70% unit tests, 20% integration tests, and 10% UI tests ensuring quality assurance.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384300" y="5664200"/>
            <a:ext cx="374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150+ unit test cases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6248400"/>
            <a:ext cx="374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API endpoint integration tests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6832600"/>
            <a:ext cx="374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End-to-end workflow testing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50300" y="5664200"/>
            <a:ext cx="309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Critical bugs: 0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50300" y="6248400"/>
            <a:ext cx="309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Major bugs: 2 (resolved)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50300" y="6832600"/>
            <a:ext cx="309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Minor bugs: 8 (resolved)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03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03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003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369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369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8369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625600"/>
            <a:ext cx="14490700" cy="6858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625600"/>
            <a:ext cx="144907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1003300" y="3340100"/>
            <a:ext cx="110490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7" id="7"/>
          <p:cNvSpPr/>
          <p:nvPr/>
        </p:nvSpPr>
        <p:spPr>
          <a:xfrm>
            <a:off x="876300" y="3340100"/>
            <a:ext cx="144907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1003300" y="5054600"/>
            <a:ext cx="101727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9" id="9"/>
          <p:cNvSpPr/>
          <p:nvPr/>
        </p:nvSpPr>
        <p:spPr>
          <a:xfrm>
            <a:off x="876300" y="5054600"/>
            <a:ext cx="144907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1003300" y="6769100"/>
            <a:ext cx="9309100" cy="12700"/>
          </a:xfrm>
          <a:prstGeom prst="rect">
            <a:avLst/>
          </a:prstGeom>
          <a:solidFill>
            <a:srgbClr val="336C3D"/>
          </a:solidFill>
        </p:spPr>
      </p:sp>
      <p:sp>
        <p:nvSpPr>
          <p:cNvPr name="AutoShape 11" id="11"/>
          <p:cNvSpPr/>
          <p:nvPr/>
        </p:nvSpPr>
        <p:spPr>
          <a:xfrm>
            <a:off x="876300" y="6769100"/>
            <a:ext cx="144907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1003300" y="8483600"/>
            <a:ext cx="8432800" cy="12700"/>
          </a:xfrm>
          <a:prstGeom prst="rect">
            <a:avLst/>
          </a:prstGeom>
          <a:solidFill>
            <a:srgbClr val="336C3D"/>
          </a:solid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0" y="1625600"/>
            <a:ext cx="2959100" cy="2247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900" y="1625600"/>
            <a:ext cx="2959100" cy="224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0900" y="1625600"/>
            <a:ext cx="2959100" cy="224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0900" y="1625600"/>
            <a:ext cx="2959100" cy="224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1442700" y="3340100"/>
            <a:ext cx="3771900" cy="2247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2700" y="3340100"/>
            <a:ext cx="3771900" cy="2247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1442700" y="3340100"/>
            <a:ext cx="3771900" cy="2247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1800" y="5054600"/>
            <a:ext cx="4584700" cy="224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800" y="5054600"/>
            <a:ext cx="4584700" cy="2247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1800" y="5054600"/>
            <a:ext cx="4584700" cy="2247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6300" y="6769100"/>
            <a:ext cx="5397500" cy="2247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6300" y="6769100"/>
            <a:ext cx="5397500" cy="2247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9766300" y="6769100"/>
            <a:ext cx="5397500" cy="22479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>
            <a:off x="876300" y="6350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275C43"/>
                </a:solidFill>
                <a:latin typeface="&quot;Aoboshi One&quot;"/>
              </a:rPr>
              <a:t>Deployment Plan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2941300" y="309880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1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130300" y="1866900"/>
            <a:ext cx="107950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latin typeface="&quot;Aoboshi One&quot;"/>
              </a:rPr>
              <a:t>Pre-Deployment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2077700" y="481330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2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130300" y="3581400"/>
            <a:ext cx="9918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latin typeface="&quot;Aoboshi One&quot;"/>
              </a:rPr>
              <a:t>Pilot Launch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11214100" y="652780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3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1130300" y="5295900"/>
            <a:ext cx="90551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latin typeface="&quot;Aoboshi One&quot;"/>
              </a:rPr>
              <a:t>Department Rollout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10337800" y="824230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4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1130300" y="7010400"/>
            <a:ext cx="81788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103926"/>
                </a:solidFill>
                <a:latin typeface="&quot;Aoboshi One&quot;"/>
              </a:rPr>
              <a:t>Full Production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1130300" y="2400300"/>
            <a:ext cx="107950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All tests passing, performance validated, security reviewed, documentation complete.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130300" y="4114800"/>
            <a:ext cx="99187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Phase 1 deployment with 10 users for feedback collection and system validation.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130300" y="5829300"/>
            <a:ext cx="90551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Phase 2 expansion to 25 support agents with comprehensive training and support.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1130300" y="7556500"/>
            <a:ext cx="81788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Poppins"/>
              </a:rPr>
              <a:t>Phase 3 complete release enabling all 50 agents to leverage system benefits.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514600"/>
            <a:ext cx="14490700" cy="5156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6311900" y="3289300"/>
            <a:ext cx="3619500" cy="3619500"/>
          </a:xfrm>
          <a:prstGeom prst="roundRect">
            <a:avLst>
              <a:gd name="adj" fmla="val 49824"/>
            </a:avLst>
          </a:prstGeom>
          <a:solidFill>
            <a:srgbClr val="000000">
              <a:alpha val="0"/>
            </a:srgbClr>
          </a:solidFill>
          <a:ln w="101600">
            <a:solidFill>
              <a:srgbClr val="336C3D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5994400" y="4775200"/>
            <a:ext cx="622300" cy="622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7" id="7"/>
          <p:cNvSpPr/>
          <p:nvPr/>
        </p:nvSpPr>
        <p:spPr>
          <a:xfrm>
            <a:off x="8712200" y="3213100"/>
            <a:ext cx="622300" cy="622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AutoShape 8" id="8"/>
          <p:cNvSpPr/>
          <p:nvPr/>
        </p:nvSpPr>
        <p:spPr>
          <a:xfrm>
            <a:off x="8712200" y="6350000"/>
            <a:ext cx="622300" cy="622300"/>
          </a:xfrm>
          <a:prstGeom prst="rect">
            <a:avLst/>
          </a:prstGeom>
          <a:solidFill>
            <a:srgbClr val="CBE1C8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447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Feedback &amp; Iteration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4025900"/>
            <a:ext cx="4673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Feedback Collection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0693400" y="2514600"/>
            <a:ext cx="4673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Implementation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693400" y="5537200"/>
            <a:ext cx="4673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Performance Tracking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76300" y="4648200"/>
            <a:ext cx="46736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Sprint reviews, user testing sessions, team retrospectives, and performance data analysis driving continuous system improvement.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693400" y="3136900"/>
            <a:ext cx="46736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Feature prioritization based on feedback, bug fixes in sprints, process improvements, and architecture refinements based on performance.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0693400" y="6172200"/>
            <a:ext cx="46736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Continuous monitoring of system usage patterns, user satisfaction metrics, and technical performance to guide optimization efforts.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6146800" y="4965700"/>
            <a:ext cx="304800" cy="241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8902700" y="3403600"/>
            <a:ext cx="241300" cy="241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r="0"/>
          <a:stretch>
            <a:fillRect/>
          </a:stretch>
        </p:blipFill>
        <p:spPr>
          <a:xfrm>
            <a:off x="8902700" y="65405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222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222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318000"/>
            <a:ext cx="14490700" cy="3644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318000"/>
            <a:ext cx="4660900" cy="3644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2832100" y="457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AutoShape 9" id="9"/>
          <p:cNvSpPr/>
          <p:nvPr/>
        </p:nvSpPr>
        <p:spPr>
          <a:xfrm>
            <a:off x="5791200" y="4318000"/>
            <a:ext cx="4660900" cy="3644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7747000" y="457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AutoShape 11" id="11"/>
          <p:cNvSpPr/>
          <p:nvPr/>
        </p:nvSpPr>
        <p:spPr>
          <a:xfrm>
            <a:off x="10706100" y="4318000"/>
            <a:ext cx="4660900" cy="3644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12661900" y="457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103926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1168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System Architecture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476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Three-Tier Architecture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270000" y="5575300"/>
            <a:ext cx="3860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Security Layer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426200" y="55753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Integration Layer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79200" y="5575300"/>
            <a:ext cx="3302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Monitoring Layer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31115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Client Layer (Web Browser, Mobile App) → Application Layer (Spring Boot, REST Controllers) → Data Layer (MySQL, JPA/Hibernate)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524000" y="6172200"/>
            <a:ext cx="360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Authentication mechanisms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524000" y="6756400"/>
            <a:ext cx="360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Authorization controls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524000" y="7327900"/>
            <a:ext cx="360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Data encryption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680200" y="6172200"/>
            <a:ext cx="3124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Email service integration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680200" y="6756400"/>
            <a:ext cx="3124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Notification system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680200" y="7327900"/>
            <a:ext cx="3124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File storage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633200" y="6172200"/>
            <a:ext cx="304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logging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633200" y="6756400"/>
            <a:ext cx="304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Performance metrics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1633200" y="7327900"/>
            <a:ext cx="304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Health checks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1430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1430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1430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62992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62992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992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112522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11252200" y="680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1252200" y="739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3086100" y="4826000"/>
            <a:ext cx="241300" cy="241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8001000" y="4826000"/>
            <a:ext cx="241300" cy="241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12915900" y="48260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3683000"/>
            <a:ext cx="14490700" cy="3873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3683000"/>
            <a:ext cx="1993900" cy="914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2882900" y="3683000"/>
            <a:ext cx="1676400" cy="914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4572000" y="3683000"/>
            <a:ext cx="6362700" cy="914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0934700" y="3683000"/>
            <a:ext cx="4419600" cy="914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889000" y="4610100"/>
            <a:ext cx="199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2882900" y="4610100"/>
            <a:ext cx="1676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4572000" y="4610100"/>
            <a:ext cx="63627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10934700" y="4610100"/>
            <a:ext cx="441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889000" y="5537200"/>
            <a:ext cx="199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2882900" y="5537200"/>
            <a:ext cx="1676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4572000" y="5537200"/>
            <a:ext cx="63627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10934700" y="5537200"/>
            <a:ext cx="441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889000" y="6451600"/>
            <a:ext cx="199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2882900" y="6451600"/>
            <a:ext cx="1676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4572000" y="6451600"/>
            <a:ext cx="636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10934700" y="6451600"/>
            <a:ext cx="4419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889000" y="6997700"/>
            <a:ext cx="1993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2882900" y="6997700"/>
            <a:ext cx="1676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4572000" y="6997700"/>
            <a:ext cx="6362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0934700" y="6997700"/>
            <a:ext cx="4419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TextBox 25" id="25"/>
          <p:cNvSpPr txBox="true"/>
          <p:nvPr/>
        </p:nvSpPr>
        <p:spPr>
          <a:xfrm>
            <a:off x="876300" y="1574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Database Design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76300" y="26416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Entity Relationship Diagram showing normalized schema with proper relationships between core entities: Users, Complaints, Comments, and Attachments.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965200" y="3771900"/>
            <a:ext cx="182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Table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2971800" y="3771900"/>
            <a:ext cx="1511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Primary Key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4660900" y="3771900"/>
            <a:ext cx="619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Key Columns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1023600" y="3771900"/>
            <a:ext cx="424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Purpose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965200" y="4686300"/>
            <a:ext cx="182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USERS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2971800" y="4686300"/>
            <a:ext cx="151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id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4660900" y="4686300"/>
            <a:ext cx="619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username, email, password, role, department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11023600" y="4686300"/>
            <a:ext cx="42418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User account and role management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965200" y="5613400"/>
            <a:ext cx="182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COMPLAINTS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2971800" y="5613400"/>
            <a:ext cx="151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id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4660900" y="5613400"/>
            <a:ext cx="619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title, description, category, status, priority, created_by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11023600" y="5613400"/>
            <a:ext cx="424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Main complaint tracking entity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965200" y="6540500"/>
            <a:ext cx="182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COMMENTS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2971800" y="6540500"/>
            <a:ext cx="151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id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4660900" y="6540500"/>
            <a:ext cx="619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complaint_id, user_id, content, internal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11023600" y="6540500"/>
            <a:ext cx="424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Discussion and internal notes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965200" y="7086600"/>
            <a:ext cx="1828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ATTACHMENTS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2971800" y="7086600"/>
            <a:ext cx="151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id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4660900" y="7086600"/>
            <a:ext cx="6197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complaint_id, file_name, file_path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1023600" y="7086600"/>
            <a:ext cx="424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File storage and references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3695700"/>
            <a:ext cx="14490700" cy="38227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3708400"/>
            <a:ext cx="38100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4699000" y="3708400"/>
            <a:ext cx="16637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362700" y="3708400"/>
            <a:ext cx="17526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8128000" y="3708400"/>
            <a:ext cx="17526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9880600" y="3708400"/>
            <a:ext cx="17272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1620500" y="3708400"/>
            <a:ext cx="18542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13474700" y="3708400"/>
            <a:ext cx="18669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889000" y="42545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4699000" y="42545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6362700" y="42545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8128000" y="42545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9880600" y="42545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11620500" y="42545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3474700" y="42545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889000" y="48006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4699000" y="48006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6362700" y="48006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8128000" y="48006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9880600" y="48006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1620500" y="48006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13474700" y="48006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889000" y="53467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4699000" y="53467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6362700" y="53467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8128000" y="53467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9880600" y="53467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1620500" y="53467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13474700" y="53467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889000" y="58928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4" id="34"/>
          <p:cNvSpPr/>
          <p:nvPr/>
        </p:nvSpPr>
        <p:spPr>
          <a:xfrm>
            <a:off x="4699000" y="58928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5" id="35"/>
          <p:cNvSpPr/>
          <p:nvPr/>
        </p:nvSpPr>
        <p:spPr>
          <a:xfrm>
            <a:off x="6362700" y="58928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6" id="36"/>
          <p:cNvSpPr/>
          <p:nvPr/>
        </p:nvSpPr>
        <p:spPr>
          <a:xfrm>
            <a:off x="8128000" y="58928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7" id="37"/>
          <p:cNvSpPr/>
          <p:nvPr/>
        </p:nvSpPr>
        <p:spPr>
          <a:xfrm>
            <a:off x="9880600" y="58928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8" id="38"/>
          <p:cNvSpPr/>
          <p:nvPr/>
        </p:nvSpPr>
        <p:spPr>
          <a:xfrm>
            <a:off x="11620500" y="58928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39" id="39"/>
          <p:cNvSpPr/>
          <p:nvPr/>
        </p:nvSpPr>
        <p:spPr>
          <a:xfrm>
            <a:off x="13474700" y="58928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0" id="40"/>
          <p:cNvSpPr/>
          <p:nvPr/>
        </p:nvSpPr>
        <p:spPr>
          <a:xfrm>
            <a:off x="889000" y="64262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1" id="41"/>
          <p:cNvSpPr/>
          <p:nvPr/>
        </p:nvSpPr>
        <p:spPr>
          <a:xfrm>
            <a:off x="4699000" y="64262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2" id="42"/>
          <p:cNvSpPr/>
          <p:nvPr/>
        </p:nvSpPr>
        <p:spPr>
          <a:xfrm>
            <a:off x="6362700" y="64262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3" id="43"/>
          <p:cNvSpPr/>
          <p:nvPr/>
        </p:nvSpPr>
        <p:spPr>
          <a:xfrm>
            <a:off x="8128000" y="64262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4" id="44"/>
          <p:cNvSpPr/>
          <p:nvPr/>
        </p:nvSpPr>
        <p:spPr>
          <a:xfrm>
            <a:off x="9880600" y="64262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5" id="45"/>
          <p:cNvSpPr/>
          <p:nvPr/>
        </p:nvSpPr>
        <p:spPr>
          <a:xfrm>
            <a:off x="11620500" y="64262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6" id="46"/>
          <p:cNvSpPr/>
          <p:nvPr/>
        </p:nvSpPr>
        <p:spPr>
          <a:xfrm>
            <a:off x="13474700" y="64262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7" id="47"/>
          <p:cNvSpPr/>
          <p:nvPr/>
        </p:nvSpPr>
        <p:spPr>
          <a:xfrm>
            <a:off x="889000" y="6972300"/>
            <a:ext cx="381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8" id="48"/>
          <p:cNvSpPr/>
          <p:nvPr/>
        </p:nvSpPr>
        <p:spPr>
          <a:xfrm>
            <a:off x="4699000" y="6972300"/>
            <a:ext cx="1663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49" id="49"/>
          <p:cNvSpPr/>
          <p:nvPr/>
        </p:nvSpPr>
        <p:spPr>
          <a:xfrm>
            <a:off x="6362700" y="69723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0" id="50"/>
          <p:cNvSpPr/>
          <p:nvPr/>
        </p:nvSpPr>
        <p:spPr>
          <a:xfrm>
            <a:off x="8128000" y="6972300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1" id="51"/>
          <p:cNvSpPr/>
          <p:nvPr/>
        </p:nvSpPr>
        <p:spPr>
          <a:xfrm>
            <a:off x="9880600" y="6972300"/>
            <a:ext cx="1727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2" id="52"/>
          <p:cNvSpPr/>
          <p:nvPr/>
        </p:nvSpPr>
        <p:spPr>
          <a:xfrm>
            <a:off x="11620500" y="6972300"/>
            <a:ext cx="1854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3" id="53"/>
          <p:cNvSpPr/>
          <p:nvPr/>
        </p:nvSpPr>
        <p:spPr>
          <a:xfrm>
            <a:off x="13474700" y="6972300"/>
            <a:ext cx="186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TextBox 54" id="54"/>
          <p:cNvSpPr txBox="true"/>
          <p:nvPr/>
        </p:nvSpPr>
        <p:spPr>
          <a:xfrm>
            <a:off x="876300" y="1600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Project Timeline</a:t>
            </a:r>
            <a:endParaRPr lang="en-US" sz="1100"/>
          </a:p>
        </p:txBody>
      </p:sp>
      <p:sp>
        <p:nvSpPr>
          <p:cNvPr name="TextBox 55" id="55"/>
          <p:cNvSpPr txBox="true"/>
          <p:nvPr/>
        </p:nvSpPr>
        <p:spPr>
          <a:xfrm>
            <a:off x="876300" y="2654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12-week execution plan spanning planning, design, development sprints, testing, and deployment phases with critical milestones.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965200" y="37846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Phase/Sprint</a:t>
            </a:r>
            <a:endParaRPr lang="en-US" sz="1100"/>
          </a:p>
        </p:txBody>
      </p:sp>
      <p:sp>
        <p:nvSpPr>
          <p:cNvPr name="TextBox 57" id="57"/>
          <p:cNvSpPr txBox="true"/>
          <p:nvPr/>
        </p:nvSpPr>
        <p:spPr>
          <a:xfrm>
            <a:off x="4775200" y="37846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1-2</a:t>
            </a:r>
            <a:endParaRPr lang="en-US" sz="1100"/>
          </a:p>
        </p:txBody>
      </p:sp>
      <p:sp>
        <p:nvSpPr>
          <p:cNvPr name="TextBox 58" id="58"/>
          <p:cNvSpPr txBox="true"/>
          <p:nvPr/>
        </p:nvSpPr>
        <p:spPr>
          <a:xfrm>
            <a:off x="6451600" y="3784600"/>
            <a:ext cx="158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3-4</a:t>
            </a:r>
            <a:endParaRPr lang="en-US" sz="1100"/>
          </a:p>
        </p:txBody>
      </p:sp>
      <p:sp>
        <p:nvSpPr>
          <p:cNvPr name="TextBox 59" id="59"/>
          <p:cNvSpPr txBox="true"/>
          <p:nvPr/>
        </p:nvSpPr>
        <p:spPr>
          <a:xfrm>
            <a:off x="8204200" y="3784600"/>
            <a:ext cx="158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5-6</a:t>
            </a:r>
            <a:endParaRPr lang="en-US" sz="1100"/>
          </a:p>
        </p:txBody>
      </p:sp>
      <p:sp>
        <p:nvSpPr>
          <p:cNvPr name="TextBox 60" id="60"/>
          <p:cNvSpPr txBox="true"/>
          <p:nvPr/>
        </p:nvSpPr>
        <p:spPr>
          <a:xfrm>
            <a:off x="9969500" y="3784600"/>
            <a:ext cx="156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7-8</a:t>
            </a:r>
            <a:endParaRPr lang="en-US" sz="1100"/>
          </a:p>
        </p:txBody>
      </p:sp>
      <p:sp>
        <p:nvSpPr>
          <p:cNvPr name="TextBox 61" id="61"/>
          <p:cNvSpPr txBox="true"/>
          <p:nvPr/>
        </p:nvSpPr>
        <p:spPr>
          <a:xfrm>
            <a:off x="11696700" y="3784600"/>
            <a:ext cx="168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9-10</a:t>
            </a:r>
            <a:endParaRPr lang="en-US" sz="1100"/>
          </a:p>
        </p:txBody>
      </p:sp>
      <p:sp>
        <p:nvSpPr>
          <p:cNvPr name="TextBox 62" id="62"/>
          <p:cNvSpPr txBox="true"/>
          <p:nvPr/>
        </p:nvSpPr>
        <p:spPr>
          <a:xfrm>
            <a:off x="13563600" y="3784600"/>
            <a:ext cx="170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Weeks 11-12</a:t>
            </a:r>
            <a:endParaRPr lang="en-US" sz="1100"/>
          </a:p>
        </p:txBody>
      </p:sp>
      <p:sp>
        <p:nvSpPr>
          <p:cNvPr name="TextBox 63" id="63"/>
          <p:cNvSpPr txBox="true"/>
          <p:nvPr/>
        </p:nvSpPr>
        <p:spPr>
          <a:xfrm>
            <a:off x="965200" y="43307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Planning &amp; Requirements</a:t>
            </a:r>
            <a:endParaRPr lang="en-US" sz="1100"/>
          </a:p>
        </p:txBody>
      </p:sp>
      <p:sp>
        <p:nvSpPr>
          <p:cNvPr name="TextBox 64" id="64"/>
          <p:cNvSpPr txBox="true"/>
          <p:nvPr/>
        </p:nvSpPr>
        <p:spPr>
          <a:xfrm>
            <a:off x="4775200" y="43307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  <p:sp>
        <p:nvSpPr>
          <p:cNvPr name="TextBox 65" id="65"/>
          <p:cNvSpPr txBox="true"/>
          <p:nvPr/>
        </p:nvSpPr>
        <p:spPr>
          <a:xfrm>
            <a:off x="965200" y="48768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System Design</a:t>
            </a:r>
            <a:endParaRPr lang="en-US" sz="1100"/>
          </a:p>
        </p:txBody>
      </p:sp>
      <p:sp>
        <p:nvSpPr>
          <p:cNvPr name="TextBox 66" id="66"/>
          <p:cNvSpPr txBox="true"/>
          <p:nvPr/>
        </p:nvSpPr>
        <p:spPr>
          <a:xfrm>
            <a:off x="6451600" y="4876800"/>
            <a:ext cx="158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  <p:sp>
        <p:nvSpPr>
          <p:cNvPr name="TextBox 67" id="67"/>
          <p:cNvSpPr txBox="true"/>
          <p:nvPr/>
        </p:nvSpPr>
        <p:spPr>
          <a:xfrm>
            <a:off x="965200" y="54229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Sprint 1: Foundation</a:t>
            </a:r>
            <a:endParaRPr lang="en-US" sz="1100"/>
          </a:p>
        </p:txBody>
      </p:sp>
      <p:sp>
        <p:nvSpPr>
          <p:cNvPr name="TextBox 68" id="68"/>
          <p:cNvSpPr txBox="true"/>
          <p:nvPr/>
        </p:nvSpPr>
        <p:spPr>
          <a:xfrm>
            <a:off x="8204200" y="5422900"/>
            <a:ext cx="158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  <p:sp>
        <p:nvSpPr>
          <p:cNvPr name="TextBox 69" id="69"/>
          <p:cNvSpPr txBox="true"/>
          <p:nvPr/>
        </p:nvSpPr>
        <p:spPr>
          <a:xfrm>
            <a:off x="965200" y="59690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Sprint 2: Core Features</a:t>
            </a:r>
            <a:endParaRPr lang="en-US" sz="1100"/>
          </a:p>
        </p:txBody>
      </p:sp>
      <p:sp>
        <p:nvSpPr>
          <p:cNvPr name="TextBox 70" id="70"/>
          <p:cNvSpPr txBox="true"/>
          <p:nvPr/>
        </p:nvSpPr>
        <p:spPr>
          <a:xfrm>
            <a:off x="9969500" y="5969000"/>
            <a:ext cx="156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  <p:sp>
        <p:nvSpPr>
          <p:cNvPr name="TextBox 71" id="71"/>
          <p:cNvSpPr txBox="true"/>
          <p:nvPr/>
        </p:nvSpPr>
        <p:spPr>
          <a:xfrm>
            <a:off x="965200" y="65151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Sprint 3: Workflow</a:t>
            </a:r>
            <a:endParaRPr lang="en-US" sz="1100"/>
          </a:p>
        </p:txBody>
      </p:sp>
      <p:sp>
        <p:nvSpPr>
          <p:cNvPr name="TextBox 72" id="72"/>
          <p:cNvSpPr txBox="true"/>
          <p:nvPr/>
        </p:nvSpPr>
        <p:spPr>
          <a:xfrm>
            <a:off x="11696700" y="6515100"/>
            <a:ext cx="168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  <p:sp>
        <p:nvSpPr>
          <p:cNvPr name="TextBox 73" id="73"/>
          <p:cNvSpPr txBox="true"/>
          <p:nvPr/>
        </p:nvSpPr>
        <p:spPr>
          <a:xfrm>
            <a:off x="965200" y="7061200"/>
            <a:ext cx="3644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Testing &amp; Deployment</a:t>
            </a:r>
            <a:endParaRPr lang="en-US" sz="1100"/>
          </a:p>
        </p:txBody>
      </p:sp>
      <p:sp>
        <p:nvSpPr>
          <p:cNvPr name="TextBox 74" id="74"/>
          <p:cNvSpPr txBox="true"/>
          <p:nvPr/>
        </p:nvSpPr>
        <p:spPr>
          <a:xfrm>
            <a:off x="13563600" y="7061200"/>
            <a:ext cx="170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████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679700"/>
            <a:ext cx="14490700" cy="2730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2692400"/>
            <a:ext cx="69469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7835900" y="2692400"/>
            <a:ext cx="20574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9893300" y="2692400"/>
            <a:ext cx="20447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1950700" y="2692400"/>
            <a:ext cx="34036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889000" y="3225800"/>
            <a:ext cx="694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7835900" y="32258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9893300" y="3225800"/>
            <a:ext cx="204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11950700" y="3225800"/>
            <a:ext cx="340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889000" y="3771900"/>
            <a:ext cx="694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7835900" y="37719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9893300" y="3771900"/>
            <a:ext cx="204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11950700" y="3771900"/>
            <a:ext cx="340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889000" y="4318000"/>
            <a:ext cx="694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7835900" y="43180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9893300" y="4318000"/>
            <a:ext cx="204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11950700" y="4318000"/>
            <a:ext cx="340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889000" y="4864100"/>
            <a:ext cx="6946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7835900" y="48641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9893300" y="4864100"/>
            <a:ext cx="204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1950700" y="4864100"/>
            <a:ext cx="340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876300" y="5600700"/>
            <a:ext cx="14490700" cy="190500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26" id="26"/>
          <p:cNvSpPr/>
          <p:nvPr/>
        </p:nvSpPr>
        <p:spPr>
          <a:xfrm>
            <a:off x="876300" y="5600700"/>
            <a:ext cx="7086600" cy="190500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27" id="27"/>
          <p:cNvSpPr/>
          <p:nvPr/>
        </p:nvSpPr>
        <p:spPr>
          <a:xfrm>
            <a:off x="8280400" y="5600700"/>
            <a:ext cx="7086600" cy="190500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TextBox 28" id="28"/>
          <p:cNvSpPr txBox="true"/>
          <p:nvPr/>
        </p:nvSpPr>
        <p:spPr>
          <a:xfrm>
            <a:off x="876300" y="1625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Progress Tracking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965200" y="2768600"/>
            <a:ext cx="676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Metric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7912100" y="27686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Target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9969500" y="27686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Actual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12026900" y="2768600"/>
            <a:ext cx="3238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Status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965200" y="3314700"/>
            <a:ext cx="676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Sprint Velocity (points)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7912100" y="33147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20-25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9969500" y="33147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22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2026900" y="3314700"/>
            <a:ext cx="3238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✅ On Track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965200" y="3860800"/>
            <a:ext cx="676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Code Coverage (%)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7912100" y="38608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80+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9969500" y="38608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85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12026900" y="3860800"/>
            <a:ext cx="3238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✅ Exceeded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965200" y="4406900"/>
            <a:ext cx="676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Defect Density (per KLOC)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7912100" y="44069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&lt;0.1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9969500" y="44069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0.08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12026900" y="4406900"/>
            <a:ext cx="3238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✅ Excellent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965200" y="4953000"/>
            <a:ext cx="676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Timeline Adherence (%)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7912100" y="49530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100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9969500" y="4953000"/>
            <a:ext cx="1879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100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12026900" y="4953000"/>
            <a:ext cx="3238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ea typeface="Poppins"/>
              </a:rPr>
              <a:t>✅ Perfect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876300" y="5638800"/>
            <a:ext cx="7442200" cy="1435100"/>
          </a:xfrm>
          <a:prstGeom prst="roundRect">
            <a:avLst>
              <a:gd name="adj" fmla="val 6194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7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100%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876300" y="7137400"/>
            <a:ext cx="7086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Quality Gates Passed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8280400" y="5638800"/>
            <a:ext cx="7442200" cy="1435100"/>
          </a:xfrm>
          <a:prstGeom prst="roundRect">
            <a:avLst>
              <a:gd name="adj" fmla="val 6194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78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4/4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8280400" y="7137400"/>
            <a:ext cx="7086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Key Milestones Met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4241800"/>
            <a:ext cx="14490700" cy="2730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4254500"/>
            <a:ext cx="39878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4876800" y="4254500"/>
            <a:ext cx="21844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7061200" y="4254500"/>
            <a:ext cx="16510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8724900" y="4254500"/>
            <a:ext cx="6629400" cy="533400"/>
          </a:xfrm>
          <a:prstGeom prst="rect">
            <a:avLst/>
          </a:prstGeom>
          <a:solidFill>
            <a:srgbClr val="8FAC8C">
              <a:alpha val="46667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889000" y="4800600"/>
            <a:ext cx="398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4876800" y="4800600"/>
            <a:ext cx="218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7061200" y="4800600"/>
            <a:ext cx="1651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8724900" y="4800600"/>
            <a:ext cx="6629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889000" y="5346700"/>
            <a:ext cx="398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4876800" y="5346700"/>
            <a:ext cx="218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7061200" y="5346700"/>
            <a:ext cx="1651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8724900" y="5346700"/>
            <a:ext cx="6629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889000" y="5892800"/>
            <a:ext cx="398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4876800" y="5892800"/>
            <a:ext cx="218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7061200" y="5892800"/>
            <a:ext cx="1651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724900" y="5892800"/>
            <a:ext cx="6629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889000" y="6426200"/>
            <a:ext cx="398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4876800" y="6426200"/>
            <a:ext cx="218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7061200" y="6426200"/>
            <a:ext cx="1651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8724900" y="6426200"/>
            <a:ext cx="6629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2B199"/>
            </a:solidFill>
          </a:ln>
        </p:spPr>
      </p:sp>
      <p:sp>
        <p:nvSpPr>
          <p:cNvPr name="TextBox 25" id="25"/>
          <p:cNvSpPr txBox="true"/>
          <p:nvPr/>
        </p:nvSpPr>
        <p:spPr>
          <a:xfrm>
            <a:off x="876300" y="2146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Risk Management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76300" y="32004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Proactive identification and mitigation of potential risks through systematic assessment, monitoring, and contingency planning throughout project lifecycle.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965200" y="4330700"/>
            <a:ext cx="382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Risk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4965700" y="4330700"/>
            <a:ext cx="201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Probability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7150100" y="43307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Impact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8813800" y="4330700"/>
            <a:ext cx="6464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Mitigation Strategy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965200" y="4876800"/>
            <a:ext cx="382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Scope Creep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4965700" y="4876800"/>
            <a:ext cx="201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High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7150100" y="48768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High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8813800" y="4876800"/>
            <a:ext cx="6464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Change control, regular reviews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965200" y="5422900"/>
            <a:ext cx="382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Technical Challenges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4965700" y="5422900"/>
            <a:ext cx="201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Medium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7150100" y="54229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High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8813800" y="5422900"/>
            <a:ext cx="6464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Early prototyping, pair programming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965200" y="5969000"/>
            <a:ext cx="382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Timeline Pressure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4965700" y="5969000"/>
            <a:ext cx="201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Medium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7150100" y="59690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Medium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8813800" y="5969000"/>
            <a:ext cx="6464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Buffer allocation, priority focus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965200" y="6515100"/>
            <a:ext cx="382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Team Coordination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4965700" y="6515100"/>
            <a:ext cx="2019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Low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7150100" y="6515100"/>
            <a:ext cx="1485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Medium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8813800" y="6515100"/>
            <a:ext cx="6464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Daily standups, communication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841500"/>
            <a:ext cx="14490700" cy="1155700"/>
          </a:xfrm>
          <a:prstGeom prst="roundRect">
            <a:avLst>
              <a:gd name="adj" fmla="val 6593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841500"/>
            <a:ext cx="3378200" cy="1155700"/>
          </a:xfrm>
          <a:prstGeom prst="roundRect">
            <a:avLst>
              <a:gd name="adj" fmla="val 6593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4572000" y="1841500"/>
            <a:ext cx="3378200" cy="1155700"/>
          </a:xfrm>
          <a:prstGeom prst="roundRect">
            <a:avLst>
              <a:gd name="adj" fmla="val 6593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280400" y="1841500"/>
            <a:ext cx="3378200" cy="1155700"/>
          </a:xfrm>
          <a:prstGeom prst="roundRect">
            <a:avLst>
              <a:gd name="adj" fmla="val 6593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11976100" y="1841500"/>
            <a:ext cx="3378200" cy="1155700"/>
          </a:xfrm>
          <a:prstGeom prst="roundRect">
            <a:avLst>
              <a:gd name="adj" fmla="val 6593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876300" y="3213100"/>
            <a:ext cx="14490700" cy="513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76300" y="3213100"/>
            <a:ext cx="4660900" cy="51308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1130300" y="4089400"/>
            <a:ext cx="12700" cy="18796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AutoShape 12" id="12"/>
          <p:cNvSpPr/>
          <p:nvPr/>
        </p:nvSpPr>
        <p:spPr>
          <a:xfrm>
            <a:off x="5791200" y="3213100"/>
            <a:ext cx="4660900" cy="51308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6045200" y="4089400"/>
            <a:ext cx="12700" cy="22606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AutoShape 14" id="14"/>
          <p:cNvSpPr/>
          <p:nvPr/>
        </p:nvSpPr>
        <p:spPr>
          <a:xfrm>
            <a:off x="10706100" y="3213100"/>
            <a:ext cx="4660900" cy="51308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10960100" y="4089400"/>
            <a:ext cx="12700" cy="1511300"/>
          </a:xfrm>
          <a:prstGeom prst="rect">
            <a:avLst/>
          </a:prstGeom>
          <a:solidFill>
            <a:srgbClr val="103926"/>
          </a:solidFill>
        </p:spPr>
      </p:sp>
      <p:sp>
        <p:nvSpPr>
          <p:cNvPr name="TextBox 16" id="16"/>
          <p:cNvSpPr txBox="true"/>
          <p:nvPr/>
        </p:nvSpPr>
        <p:spPr>
          <a:xfrm>
            <a:off x="876300" y="787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Key Achievements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6300" y="26289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On-Time Delivery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572000" y="26289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API Endpoints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280400" y="26289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Test Coverage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976100" y="26289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Code Quality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3454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Technical Deliverables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045200" y="3454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Process Achievements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0960100" y="3454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Quality Metrics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76300" y="1866900"/>
            <a:ext cx="3556000" cy="723900"/>
          </a:xfrm>
          <a:prstGeom prst="roundRect">
            <a:avLst>
              <a:gd name="adj" fmla="val 1228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100%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4572000" y="1866900"/>
            <a:ext cx="3556000" cy="723900"/>
          </a:xfrm>
          <a:prstGeom prst="roundRect">
            <a:avLst>
              <a:gd name="adj" fmla="val 1228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15+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280400" y="1866900"/>
            <a:ext cx="3556000" cy="723900"/>
          </a:xfrm>
          <a:prstGeom prst="roundRect">
            <a:avLst>
              <a:gd name="adj" fmla="val 1228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85%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1976100" y="1866900"/>
            <a:ext cx="3556000" cy="723900"/>
          </a:xfrm>
          <a:prstGeom prst="roundRect">
            <a:avLst>
              <a:gd name="adj" fmla="val 12280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oboshi One&quot;"/>
              </a:rPr>
              <a:t>4.5/5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384300" y="4089400"/>
            <a:ext cx="3898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Fully functional system with comprehensive REST API, normalized database, extensive testing, and complete documentation.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384300" y="61722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Complaint Management System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384300" y="71374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15+ REST API endpoints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1384300" y="77089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85% test coverage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6299200" y="4089400"/>
            <a:ext cx="38989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100% timeline adherence through agile methodology with excellent team collaboration and comprehensive knowledge transfer.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99200" y="65532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12-week delivery on schedule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6299200" y="71374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Strong team collaboration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299200" y="77089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Complete documentation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1214100" y="4089400"/>
            <a:ext cx="3898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Exceeded quality targets with minimal bugs, high code quality scores, and zero critical defects in final release.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1214100" y="57912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0 critical bugs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11214100" y="63754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85% code coverage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11214100" y="6959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docs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1003300" y="623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003300" y="7188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1003300" y="7772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5918200" y="6616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5918200" y="7188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5918200" y="7772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0833100" y="5854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10833100" y="6438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10833100" y="701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730500"/>
            <a:ext cx="14490700" cy="18796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826000"/>
            <a:ext cx="14490700" cy="262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242300" y="4826000"/>
            <a:ext cx="7112000" cy="2628900"/>
          </a:xfrm>
          <a:prstGeom prst="rect">
            <a:avLst/>
          </a:prstGeom>
          <a:solidFill>
            <a:srgbClr val="8FAC8C">
              <a:alpha val="46667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275C43"/>
                </a:solidFill>
                <a:latin typeface="&quot;Aoboshi One&quot;"/>
              </a:rPr>
              <a:t>Lessons Learned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2984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275C43"/>
                </a:solidFill>
                <a:latin typeface="&quot;Aoboshi One&quot;"/>
              </a:rPr>
              <a:t>Our Agile Journey Insights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5080000"/>
            <a:ext cx="537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What Went Well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496300" y="5080000"/>
            <a:ext cx="495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103926"/>
                </a:solidFill>
                <a:latin typeface="&quot;Aoboshi One&quot;"/>
              </a:rPr>
              <a:t>Areas for Improvement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6068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Comprehensive analysis of project successes, improvement opportunities, and key takeaways for future software development initiatives.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384300" y="5664200"/>
            <a:ext cx="5130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Agile flexibility accommodated changes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6248400"/>
            <a:ext cx="5130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Effective team collaboration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6832600"/>
            <a:ext cx="5130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High code quality through reviews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50300" y="5664200"/>
            <a:ext cx="4699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More accurate story point estimation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50300" y="6248400"/>
            <a:ext cx="4699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Earlier documentation initiation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50300" y="6832600"/>
            <a:ext cx="4699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Poppins"/>
              </a:rPr>
              <a:t>Enhanced user involvement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03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03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003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3693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369300" y="631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83693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29000" b="2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80784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76300" y="3810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173527"/>
                </a:solidFill>
                <a:latin typeface="&quot;Aoboshi One&quot;"/>
              </a:rPr>
              <a:t>Thank You For Your Attention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4572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173527"/>
                </a:solidFill>
                <a:latin typeface="&quot;Aoboshi One&quot;"/>
              </a:rPr>
              <a:t>Questions &amp; Discussion Welcome – Complaint Management System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